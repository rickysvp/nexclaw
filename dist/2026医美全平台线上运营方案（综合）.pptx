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29.svg" ContentType="image/svg+xml"/>
  <Override PartName="/ppt/media/image131.svg" ContentType="image/svg+xml"/>
  <Override PartName="/ppt/media/image133.svg" ContentType="image/svg+xml"/>
  <Override PartName="/ppt/media/image135.svg" ContentType="image/svg+xml"/>
  <Override PartName="/ppt/media/image137.svg" ContentType="image/svg+xml"/>
  <Override PartName="/ppt/media/image139.svg" ContentType="image/svg+xml"/>
  <Override PartName="/ppt/media/image14.svg" ContentType="image/svg+xml"/>
  <Override PartName="/ppt/media/image141.svg" ContentType="image/svg+xml"/>
  <Override PartName="/ppt/media/image143.svg" ContentType="image/svg+xml"/>
  <Override PartName="/ppt/media/image145.svg" ContentType="image/svg+xml"/>
  <Override PartName="/ppt/media/image147.svg" ContentType="image/svg+xml"/>
  <Override PartName="/ppt/media/image149.svg" ContentType="image/svg+xml"/>
  <Override PartName="/ppt/media/image151.svg" ContentType="image/svg+xml"/>
  <Override PartName="/ppt/media/image153.svg" ContentType="image/svg+xml"/>
  <Override PartName="/ppt/media/image156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75" r:id="rId8"/>
    <p:sldId id="276" r:id="rId9"/>
    <p:sldId id="277" r:id="rId10"/>
    <p:sldId id="278" r:id="rId11"/>
    <p:sldId id="279" r:id="rId12"/>
    <p:sldId id="280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9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9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大家好，今天我将为大家详细解读我们为2026年制定的医美全平台线上运营方案。这份方案的核心是“合规”与“品效合一”，旨在帮助我们在日益严格的监管环境下，实现品牌增长与业绩提升的双赢。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本次方案将分为七个部分展开，从核心定位、品项策略、平台运营、预算分配，到风险应对、执行考核，最后是落地计划和核心亮点，希望能为大家呈现一个全面且可执行的运营蓝图。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带来一份关于2026年成都医美市场广告投放的全景分析报告。这份报告将深入探讨当前市场的规模、广告投放的格局、各平台的投放效果，并最终为大家提供核心的策略建议和未来趋势判断。希望能为大家在医美行业的营销决策提供有价值的参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成都医美市场的整体概况。根据最新数据，成都合规的医美机构已达327家，市场规模突破320亿元，年增长率超过30%，这是一个非常庞大且快速增长的市场。与之对应的是激烈的广告投放竞争，全平台日均广告量高达1.2到1.5万条。值得注意的是，内容营销，也就是软植、达人合作和医生IP，已经占据了近三分之二的投放份额，这表明市场正在从单纯的硬广转向更具信任度的内容种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投放格局。这张饼图清晰地展示了各平台的投放占比。小红书以32%的份额成为绝对的投放主力，抖音紧随其后，占比28%。这两大社交平台合计占据了60%的投放预算，是营销的核心阵地。百度作为传统搜索平台仍占15%，主要用于品牌防御。视频号则以12%的占比，在私域运营中发挥着越来越重要的作用。每个平台的日均投放量和内容侧重点也各不相同，例如小红书以“种草”为主，抖音则强于“直播转化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了解了投放格局，我们更关心的是投放效果。这张表格直观对比了四大核心平台的关键指标。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可以看到，小红书的获客成本最低，约2900元/人，留资转化率高达22%，是性价比最高的平台。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抖音虽然获客成本稍高，但其强大的曝光和直播转化能力使其成为跑量的核心。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百度的获客成本最高，且呈上升趋势，因此头部机构已大幅缩减其预算。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而视频号在私域和复购方面表现突出，ROI甚至可以达到1:3.0以上，成为利润的核心来源。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整体来看，全渠道的平均ROI在1.2到1.8之间，这为我们设定了一个基本的效果预期。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基于以上分析，我们总结出核心的策略建议和未来趋势。在预算分配上，我们强烈建议将40%的预算投入小红书，35%投入抖音，这两个平台是必投的核心。15%的预算用于视频号的私域运营，剩下的10%分配给百度的品牌防守和其他辅助平台。展望未来，预算将进一步向小红书和抖音集中，内容的合规性和医生IP的打造将更加重要，同时，私域运营的价值将愈发凸显，成为医美机构实现长期盈利和客户沉淀的关键。我的报告到此结束，谢谢大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带来一份关于2026年成都医美市场广告投放的全景分析报告。这份报告将深入探讨当前市场的规模、广告投放的格局、各平台的投放效果，并最终为大家提供核心的策略建议和未来趋势判断。希望能为大家在医美行业的营销决策提供有价值的参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方案核心定位非常明确：以合规为前提，以品牌IP为驱动，最终实现品效合一。整个运营将围绕“公域获客、私域转化、会员复购”的闭环展开。我们设定了为期六个月的阶段性目标，从基建期的基础搭建，到增长期的规模扩张，再到稳定期的精细化运营，每个阶段都有清晰的KPI和关键成果来衡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品项策略上，我们采用分层定价，避免陷入价格战。引流款用于吸引新客户，利润款是我们的核心收入来源，高端款用于塑造品牌形象，而保障款则致力于提升客户体验，促进复购。这样的组合能够满足不同客户的需求，实现利润最大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确保合规运营，我们制定了严格的报价执行规则。首先，全平台价格必须统一，避免价格欺诈。其次，通过套餐化设计提升客单价。同时，所有优惠都将通过私域合规发放，公域绝不展示隐形折扣。最后，所有产品都必须标注正品溯源信息，保障消费者权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运营策略遵循梯队化原则。第一梯队是内容平台，包括抖音、小红书和视频号，是我们获客的主要阵地，预算占比最高。第二梯队是本地生活平台，如美团和大众点评，用于提升到店率。第三梯队是私域和AI优化，用于精细化运营和长期价值挖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特别需要强调的是广告植入的合规红线。根据2026年的新规，我们严禁与非医疗资质的达人合作，禁止使用任何效果对比图，杜绝夸大宣传，并必须公示所有出镜医生的资质。这些是我们运营的底线，必须严格遵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在预算分配上，我们将40%的资金投入到精准引流，这是获客的关键。30%用于内容共建，打造我们的品牌IP。20%用于私域运营，提升客户的长期价值。最后10%作为应急与合规预算，确保我们的运营安全。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预算会根据不同阶段的目标进行动态调整。在基建期，我们重点投入品牌建设；增长期则加大投放力度；稳定期则转向私域运营和IP打造。同时，我们通过弹性预算、共享IP和数据驱动等方式，严格控制成本，提升投入产出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我们识别了四大核心风险：合规、运营、市场和数据风险。针对每一种风险，我们都制定了具体的应对措施，并明确了责任部门，确保风险可控，运营安全。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为了有效应对风险，我们建立了完善的风险预警机制。通过日常监测及时发现问题，通过快速的应急响应处理问题，并通过购买保险来转移潜在风险，形成一个完整的风险防控体系。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为确保方案顺利执行，我们明确了各部门的职责分工。项目负责人统筹全局，医生团队提供专业支持，运营部负责具体执行，咨询部负责客户转化，合规部则保障运营安全。各部门协同合作，共同推动方案落地。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我们建立了分层的考核指标体系。运营层关注获客成本和投入产出，咨询层关注转化效率，医生层关注专业服务能力，合规层则关注运营的安全性。通过明确的KPI，确保每个环节都有章可循，有标可考。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方案的执行不是一成不变的。我们将通过周例会、月复盘和季度战略会，持续对方案进行优化迭代。根据数据反馈和市场变化，及时调整策略，确保方案始终保持最佳状态。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这是我们详细的方案落地时间表。从第一周的合规底册搭建，到第六个月的方案复盘，每个阶段都有明确的任务和交付物，确保方案能够有条不紊地推进和落地。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总结一下，我们方案的核心亮点有四个：首先是合规先行，确保运营安全；其次是共享医生IP，建立专业信任；第三是品效合一，实现全域闭环；最后是数据驱动，让每一分投入都产生最大价值。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最后，我们相信，通过这套以合规为基石、以品牌IP为引擎的运营方案，我们能够有效应对市场挑战，实现品牌的可持续增长，最终在医美行业的竞争中取得领先地位。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3" Type="http://schemas.openxmlformats.org/officeDocument/2006/relationships/notesSlide" Target="../notesSlides/notesSlide2.xml"/><Relationship Id="rId32" Type="http://schemas.openxmlformats.org/officeDocument/2006/relationships/slideLayout" Target="../slideLayouts/slideLayout12.xml"/><Relationship Id="rId31" Type="http://schemas.openxmlformats.org/officeDocument/2006/relationships/tags" Target="../tags/tag18.xml"/><Relationship Id="rId30" Type="http://schemas.openxmlformats.org/officeDocument/2006/relationships/image" Target="../media/image14.svg"/><Relationship Id="rId3" Type="http://schemas.openxmlformats.org/officeDocument/2006/relationships/tags" Target="../tags/tag2.xml"/><Relationship Id="rId29" Type="http://schemas.openxmlformats.org/officeDocument/2006/relationships/image" Target="../media/image13.png"/><Relationship Id="rId28" Type="http://schemas.openxmlformats.org/officeDocument/2006/relationships/tags" Target="../tags/tag17.xml"/><Relationship Id="rId27" Type="http://schemas.openxmlformats.org/officeDocument/2006/relationships/tags" Target="../tags/tag16.xml"/><Relationship Id="rId26" Type="http://schemas.openxmlformats.org/officeDocument/2006/relationships/tags" Target="../tags/tag15.xml"/><Relationship Id="rId25" Type="http://schemas.openxmlformats.org/officeDocument/2006/relationships/image" Target="../media/image12.svg"/><Relationship Id="rId24" Type="http://schemas.openxmlformats.org/officeDocument/2006/relationships/image" Target="../media/image11.png"/><Relationship Id="rId23" Type="http://schemas.openxmlformats.org/officeDocument/2006/relationships/tags" Target="../tags/tag14.xml"/><Relationship Id="rId22" Type="http://schemas.openxmlformats.org/officeDocument/2006/relationships/tags" Target="../tags/tag13.xml"/><Relationship Id="rId21" Type="http://schemas.openxmlformats.org/officeDocument/2006/relationships/tags" Target="../tags/tag12.xml"/><Relationship Id="rId20" Type="http://schemas.openxmlformats.org/officeDocument/2006/relationships/image" Target="../media/image10.svg"/><Relationship Id="rId2" Type="http://schemas.openxmlformats.org/officeDocument/2006/relationships/tags" Target="../tags/tag1.xml"/><Relationship Id="rId19" Type="http://schemas.openxmlformats.org/officeDocument/2006/relationships/image" Target="../media/image9.png"/><Relationship Id="rId18" Type="http://schemas.openxmlformats.org/officeDocument/2006/relationships/tags" Target="../tags/tag11.xml"/><Relationship Id="rId17" Type="http://schemas.openxmlformats.org/officeDocument/2006/relationships/tags" Target="../tags/tag10.xml"/><Relationship Id="rId16" Type="http://schemas.openxmlformats.org/officeDocument/2006/relationships/tags" Target="../tags/tag9.xml"/><Relationship Id="rId15" Type="http://schemas.openxmlformats.org/officeDocument/2006/relationships/image" Target="../media/image8.svg"/><Relationship Id="rId14" Type="http://schemas.openxmlformats.org/officeDocument/2006/relationships/image" Target="../media/image7.png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image" Target="../media/image6.sv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30.png"/><Relationship Id="rId7" Type="http://schemas.openxmlformats.org/officeDocument/2006/relationships/image" Target="../media/image29.svg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33.svg"/><Relationship Id="rId10" Type="http://schemas.openxmlformats.org/officeDocument/2006/relationships/image" Target="../media/image32.png"/><Relationship Id="rId1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svg"/><Relationship Id="rId7" Type="http://schemas.openxmlformats.org/officeDocument/2006/relationships/image" Target="../media/image40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5.svg"/><Relationship Id="rId11" Type="http://schemas.openxmlformats.org/officeDocument/2006/relationships/image" Target="../media/image44.png"/><Relationship Id="rId10" Type="http://schemas.openxmlformats.org/officeDocument/2006/relationships/image" Target="../media/image43.svg"/><Relationship Id="rId1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image" Target="../media/image51.svg"/><Relationship Id="rId7" Type="http://schemas.openxmlformats.org/officeDocument/2006/relationships/image" Target="../media/image50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1" Type="http://schemas.openxmlformats.org/officeDocument/2006/relationships/notesSlide" Target="../notesSlides/notesSlide7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47.svg"/><Relationship Id="rId19" Type="http://schemas.openxmlformats.org/officeDocument/2006/relationships/image" Target="../media/image60.png"/><Relationship Id="rId18" Type="http://schemas.openxmlformats.org/officeDocument/2006/relationships/image" Target="../media/image59.svg"/><Relationship Id="rId17" Type="http://schemas.openxmlformats.org/officeDocument/2006/relationships/image" Target="../media/image58.png"/><Relationship Id="rId16" Type="http://schemas.openxmlformats.org/officeDocument/2006/relationships/image" Target="../media/image39.svg"/><Relationship Id="rId15" Type="http://schemas.openxmlformats.org/officeDocument/2006/relationships/image" Target="../media/image38.png"/><Relationship Id="rId14" Type="http://schemas.openxmlformats.org/officeDocument/2006/relationships/image" Target="../media/image57.svg"/><Relationship Id="rId13" Type="http://schemas.openxmlformats.org/officeDocument/2006/relationships/image" Target="../media/image56.png"/><Relationship Id="rId12" Type="http://schemas.openxmlformats.org/officeDocument/2006/relationships/image" Target="../media/image55.svg"/><Relationship Id="rId11" Type="http://schemas.openxmlformats.org/officeDocument/2006/relationships/image" Target="../media/image54.png"/><Relationship Id="rId10" Type="http://schemas.openxmlformats.org/officeDocument/2006/relationships/image" Target="../media/image53.svg"/><Relationship Id="rId1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2.svg"/><Relationship Id="rId1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image" Target="../media/image68.svg"/><Relationship Id="rId7" Type="http://schemas.openxmlformats.org/officeDocument/2006/relationships/image" Target="../media/image67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64.sv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70.svg"/><Relationship Id="rId1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8.svg"/><Relationship Id="rId7" Type="http://schemas.openxmlformats.org/officeDocument/2006/relationships/image" Target="../media/image77.png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74.svg"/><Relationship Id="rId3" Type="http://schemas.openxmlformats.org/officeDocument/2006/relationships/image" Target="../media/image73.png"/><Relationship Id="rId2" Type="http://schemas.openxmlformats.org/officeDocument/2006/relationships/image" Target="../media/image72.sv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4.svg"/><Relationship Id="rId7" Type="http://schemas.openxmlformats.org/officeDocument/2006/relationships/image" Target="../media/image8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82.svg"/><Relationship Id="rId3" Type="http://schemas.openxmlformats.org/officeDocument/2006/relationships/image" Target="../media/image81.png"/><Relationship Id="rId2" Type="http://schemas.openxmlformats.org/officeDocument/2006/relationships/image" Target="../media/image80.sv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7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3.png"/><Relationship Id="rId8" Type="http://schemas.openxmlformats.org/officeDocument/2006/relationships/image" Target="../media/image92.svg"/><Relationship Id="rId7" Type="http://schemas.openxmlformats.org/officeDocument/2006/relationships/image" Target="../media/image91.png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Relationship Id="rId3" Type="http://schemas.openxmlformats.org/officeDocument/2006/relationships/image" Target="../media/image87.png"/><Relationship Id="rId20" Type="http://schemas.openxmlformats.org/officeDocument/2006/relationships/notesSlide" Target="../notesSlides/notesSlide12.xml"/><Relationship Id="rId2" Type="http://schemas.openxmlformats.org/officeDocument/2006/relationships/image" Target="../media/image86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102.svg"/><Relationship Id="rId17" Type="http://schemas.openxmlformats.org/officeDocument/2006/relationships/image" Target="../media/image101.png"/><Relationship Id="rId16" Type="http://schemas.openxmlformats.org/officeDocument/2006/relationships/image" Target="../media/image100.svg"/><Relationship Id="rId15" Type="http://schemas.openxmlformats.org/officeDocument/2006/relationships/image" Target="../media/image99.png"/><Relationship Id="rId14" Type="http://schemas.openxmlformats.org/officeDocument/2006/relationships/image" Target="../media/image98.svg"/><Relationship Id="rId13" Type="http://schemas.openxmlformats.org/officeDocument/2006/relationships/image" Target="../media/image97.png"/><Relationship Id="rId12" Type="http://schemas.openxmlformats.org/officeDocument/2006/relationships/image" Target="../media/image96.svg"/><Relationship Id="rId11" Type="http://schemas.openxmlformats.org/officeDocument/2006/relationships/image" Target="../media/image95.png"/><Relationship Id="rId10" Type="http://schemas.openxmlformats.org/officeDocument/2006/relationships/image" Target="../media/image94.svg"/><Relationship Id="rId1" Type="http://schemas.openxmlformats.org/officeDocument/2006/relationships/image" Target="../media/image8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10.svg"/><Relationship Id="rId7" Type="http://schemas.openxmlformats.org/officeDocument/2006/relationships/image" Target="../media/image109.png"/><Relationship Id="rId6" Type="http://schemas.openxmlformats.org/officeDocument/2006/relationships/image" Target="../media/image108.svg"/><Relationship Id="rId5" Type="http://schemas.openxmlformats.org/officeDocument/2006/relationships/image" Target="../media/image107.png"/><Relationship Id="rId4" Type="http://schemas.openxmlformats.org/officeDocument/2006/relationships/image" Target="../media/image106.svg"/><Relationship Id="rId3" Type="http://schemas.openxmlformats.org/officeDocument/2006/relationships/image" Target="../media/image105.png"/><Relationship Id="rId2" Type="http://schemas.openxmlformats.org/officeDocument/2006/relationships/image" Target="../media/image104.sv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10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9.svg"/><Relationship Id="rId8" Type="http://schemas.openxmlformats.org/officeDocument/2006/relationships/image" Target="../media/image118.png"/><Relationship Id="rId7" Type="http://schemas.openxmlformats.org/officeDocument/2006/relationships/image" Target="../media/image117.svg"/><Relationship Id="rId6" Type="http://schemas.openxmlformats.org/officeDocument/2006/relationships/image" Target="../media/image116.png"/><Relationship Id="rId5" Type="http://schemas.openxmlformats.org/officeDocument/2006/relationships/image" Target="../media/image115.svg"/><Relationship Id="rId4" Type="http://schemas.openxmlformats.org/officeDocument/2006/relationships/image" Target="../media/image114.png"/><Relationship Id="rId3" Type="http://schemas.openxmlformats.org/officeDocument/2006/relationships/image" Target="../media/image113.svg"/><Relationship Id="rId2" Type="http://schemas.openxmlformats.org/officeDocument/2006/relationships/image" Target="../media/image112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1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6.png"/><Relationship Id="rId8" Type="http://schemas.openxmlformats.org/officeDocument/2006/relationships/image" Target="../media/image125.svg"/><Relationship Id="rId7" Type="http://schemas.openxmlformats.org/officeDocument/2006/relationships/image" Target="../media/image124.png"/><Relationship Id="rId6" Type="http://schemas.openxmlformats.org/officeDocument/2006/relationships/image" Target="../media/image123.svg"/><Relationship Id="rId5" Type="http://schemas.openxmlformats.org/officeDocument/2006/relationships/image" Target="../media/image122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21.sv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27.svg"/><Relationship Id="rId1" Type="http://schemas.openxmlformats.org/officeDocument/2006/relationships/image" Target="../media/image120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33.svg"/><Relationship Id="rId7" Type="http://schemas.openxmlformats.org/officeDocument/2006/relationships/image" Target="../media/image132.png"/><Relationship Id="rId6" Type="http://schemas.openxmlformats.org/officeDocument/2006/relationships/image" Target="../media/image131.svg"/><Relationship Id="rId5" Type="http://schemas.openxmlformats.org/officeDocument/2006/relationships/image" Target="../media/image130.png"/><Relationship Id="rId4" Type="http://schemas.openxmlformats.org/officeDocument/2006/relationships/image" Target="../media/image129.svg"/><Relationship Id="rId3" Type="http://schemas.openxmlformats.org/officeDocument/2006/relationships/image" Target="../media/image128.png"/><Relationship Id="rId2" Type="http://schemas.openxmlformats.org/officeDocument/2006/relationships/image" Target="../media/image78.svg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7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35.svg"/><Relationship Id="rId5" Type="http://schemas.openxmlformats.org/officeDocument/2006/relationships/image" Target="../media/image134.png"/><Relationship Id="rId4" Type="http://schemas.openxmlformats.org/officeDocument/2006/relationships/image" Target="../media/image78.svg"/><Relationship Id="rId3" Type="http://schemas.openxmlformats.org/officeDocument/2006/relationships/image" Target="../media/image77.png"/><Relationship Id="rId2" Type="http://schemas.openxmlformats.org/officeDocument/2006/relationships/image" Target="../media/image127.svg"/><Relationship Id="rId1" Type="http://schemas.openxmlformats.org/officeDocument/2006/relationships/image" Target="../media/image126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39.svg"/><Relationship Id="rId7" Type="http://schemas.openxmlformats.org/officeDocument/2006/relationships/image" Target="../media/image138.png"/><Relationship Id="rId6" Type="http://schemas.openxmlformats.org/officeDocument/2006/relationships/image" Target="../media/image113.svg"/><Relationship Id="rId5" Type="http://schemas.openxmlformats.org/officeDocument/2006/relationships/image" Target="../media/image112.png"/><Relationship Id="rId4" Type="http://schemas.openxmlformats.org/officeDocument/2006/relationships/image" Target="../media/image137.svg"/><Relationship Id="rId3" Type="http://schemas.openxmlformats.org/officeDocument/2006/relationships/image" Target="../media/image136.png"/><Relationship Id="rId2" Type="http://schemas.openxmlformats.org/officeDocument/2006/relationships/image" Target="../media/image98.svg"/><Relationship Id="rId12" Type="http://schemas.openxmlformats.org/officeDocument/2006/relationships/notesSlide" Target="../notesSlides/notesSlide1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2.svg"/><Relationship Id="rId1" Type="http://schemas.openxmlformats.org/officeDocument/2006/relationships/image" Target="../media/image97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137.svg"/><Relationship Id="rId5" Type="http://schemas.openxmlformats.org/officeDocument/2006/relationships/image" Target="../media/image136.png"/><Relationship Id="rId4" Type="http://schemas.openxmlformats.org/officeDocument/2006/relationships/image" Target="../media/image139.svg"/><Relationship Id="rId3" Type="http://schemas.openxmlformats.org/officeDocument/2006/relationships/image" Target="../media/image138.png"/><Relationship Id="rId2" Type="http://schemas.openxmlformats.org/officeDocument/2006/relationships/image" Target="../media/image141.sv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1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5.svg"/><Relationship Id="rId5" Type="http://schemas.openxmlformats.org/officeDocument/2006/relationships/image" Target="../media/image144.png"/><Relationship Id="rId4" Type="http://schemas.openxmlformats.org/officeDocument/2006/relationships/image" Target="../media/image123.svg"/><Relationship Id="rId3" Type="http://schemas.openxmlformats.org/officeDocument/2006/relationships/image" Target="../media/image122.png"/><Relationship Id="rId2" Type="http://schemas.openxmlformats.org/officeDocument/2006/relationships/image" Target="../media/image143.svg"/><Relationship Id="rId1" Type="http://schemas.openxmlformats.org/officeDocument/2006/relationships/image" Target="../media/image142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png"/><Relationship Id="rId8" Type="http://schemas.openxmlformats.org/officeDocument/2006/relationships/image" Target="../media/image153.svg"/><Relationship Id="rId7" Type="http://schemas.openxmlformats.org/officeDocument/2006/relationships/image" Target="../media/image152.png"/><Relationship Id="rId6" Type="http://schemas.openxmlformats.org/officeDocument/2006/relationships/image" Target="../media/image151.svg"/><Relationship Id="rId5" Type="http://schemas.openxmlformats.org/officeDocument/2006/relationships/image" Target="../media/image150.png"/><Relationship Id="rId4" Type="http://schemas.openxmlformats.org/officeDocument/2006/relationships/image" Target="../media/image149.svg"/><Relationship Id="rId3" Type="http://schemas.openxmlformats.org/officeDocument/2006/relationships/image" Target="../media/image148.png"/><Relationship Id="rId2" Type="http://schemas.openxmlformats.org/officeDocument/2006/relationships/image" Target="../media/image147.svg"/><Relationship Id="rId12" Type="http://schemas.openxmlformats.org/officeDocument/2006/relationships/notesSlide" Target="../notesSlides/notesSlide21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23.svg"/><Relationship Id="rId1" Type="http://schemas.openxmlformats.org/officeDocument/2006/relationships/image" Target="../media/image146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7.svg"/><Relationship Id="rId7" Type="http://schemas.openxmlformats.org/officeDocument/2006/relationships/image" Target="../media/image126.png"/><Relationship Id="rId6" Type="http://schemas.openxmlformats.org/officeDocument/2006/relationships/image" Target="../media/image123.svg"/><Relationship Id="rId5" Type="http://schemas.openxmlformats.org/officeDocument/2006/relationships/image" Target="../media/image122.png"/><Relationship Id="rId4" Type="http://schemas.openxmlformats.org/officeDocument/2006/relationships/image" Target="../media/image125.svg"/><Relationship Id="rId3" Type="http://schemas.openxmlformats.org/officeDocument/2006/relationships/image" Target="../media/image124.png"/><Relationship Id="rId2" Type="http://schemas.openxmlformats.org/officeDocument/2006/relationships/image" Target="../media/image135.svg"/><Relationship Id="rId10" Type="http://schemas.openxmlformats.org/officeDocument/2006/relationships/notesSlide" Target="../notesSlides/notesSlide22.xml"/><Relationship Id="rId1" Type="http://schemas.openxmlformats.org/officeDocument/2006/relationships/image" Target="../media/image134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56.svg"/><Relationship Id="rId4" Type="http://schemas.openxmlformats.org/officeDocument/2006/relationships/image" Target="../media/image155.png"/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image" Target="../media/image15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2A54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41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2026医美全平台线上运营方案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359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FC3F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2286000" y="3556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合规品效合一版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CONTENTS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762053" y="13271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4FC3F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5334000" y="1524000"/>
            <a:ext cx="609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0" y="16891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60325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</a:t>
            </a:r>
            <a:r>
              <a:rPr lang="zh-CN" altLang="en-US" sz="1600" b="0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市场分析</a:t>
            </a:r>
            <a:r>
              <a:rPr lang="en-US" altLang="zh-CN" sz="1600" b="0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0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方案核心定位与目标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5334000" y="2286000"/>
            <a:ext cx="609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88000" y="24511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6032500" y="2413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品项体系与报价策略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5334000" y="3048000"/>
            <a:ext cx="609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88000" y="32131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6"/>
            </p:custDataLst>
          </p:nvPr>
        </p:nvSpPr>
        <p:spPr>
          <a:xfrm>
            <a:off x="6032500" y="317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全平台运营与广告植入策略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7"/>
            </p:custDataLst>
          </p:nvPr>
        </p:nvSpPr>
        <p:spPr>
          <a:xfrm>
            <a:off x="5334000" y="3810000"/>
            <a:ext cx="609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88000" y="39751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1"/>
            </p:custDataLst>
          </p:nvPr>
        </p:nvSpPr>
        <p:spPr>
          <a:xfrm>
            <a:off x="6032500" y="3937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预算分配方案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22"/>
            </p:custDataLst>
          </p:nvPr>
        </p:nvSpPr>
        <p:spPr>
          <a:xfrm>
            <a:off x="5334000" y="4572000"/>
            <a:ext cx="609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588000" y="47371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6"/>
            </p:custDataLst>
          </p:nvPr>
        </p:nvSpPr>
        <p:spPr>
          <a:xfrm>
            <a:off x="6032500" y="4699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风险分析与应对措施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7"/>
            </p:custDataLst>
          </p:nvPr>
        </p:nvSpPr>
        <p:spPr>
          <a:xfrm>
            <a:off x="5334000" y="5334000"/>
            <a:ext cx="6096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588000" y="54991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31"/>
            </p:custDataLst>
          </p:nvPr>
        </p:nvSpPr>
        <p:spPr>
          <a:xfrm>
            <a:off x="6032500" y="546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执行与考核机制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3810000" cy="38100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0" y="3810000"/>
            <a:ext cx="5080000" cy="5080000"/>
          </a:xfrm>
          <a:prstGeom prst="ellipse">
            <a:avLst/>
          </a:prstGeom>
          <a:solidFill>
            <a:srgbClr val="005A9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524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254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2026成都医美市场广告投放全景分析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74C3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68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市场规模、投放格局与效果洞察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715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数据来源：行业公开数据监测平台 | 报告日期：2026年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8675" y="1315085"/>
            <a:ext cx="7153275" cy="6534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市场概览：规模与体量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4A90E2">
              <a:alpha val="10000"/>
            </a:srgbClr>
          </a:solidFill>
          <a:ln cap="flat" cmpd="sng">
            <a:solidFill>
              <a:srgbClr val="2E75C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279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合规医美机构总数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327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626">
            <a:off x="1016014" y="38671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A9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4000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涵盖公立三甲医美科、连锁私立医院、轻医美诊所及专科机构。数据来源：四川省医美协会2026年1月官方数据。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4A90E2">
              <a:alpha val="10000"/>
            </a:srgbClr>
          </a:solidFill>
          <a:ln cap="flat" cmpd="sng">
            <a:solidFill>
              <a:srgbClr val="2E75C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99000" y="279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市场规模与增速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175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320+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亿元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5626">
            <a:off x="4699014" y="38671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A9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99000" y="4000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年增速高达31.4%，显示出强劲的市场活力和增长潜力，是一个快速扩张的蓝海市场。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4A90E2">
              <a:alpha val="10000"/>
            </a:srgbClr>
          </a:solidFill>
          <a:ln cap="flat" cmpd="sng">
            <a:solidFill>
              <a:srgbClr val="2E75C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382000" y="279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日均广告投放总量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175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1.2-1.5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万条/天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5626">
            <a:off x="8382014" y="38671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A9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382000" y="4000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硬广占比约35%，软植、达人合作及医生IP内容占比高达65%，内容营销已成为主流竞争手段。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投放格局：平台分布与内容结构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4826000" cy="4318000"/>
          </a:xfrm>
          <a:prstGeom prst="roundRect">
            <a:avLst>
              <a:gd name="adj" fmla="val 2941"/>
            </a:avLst>
          </a:prstGeom>
          <a:solidFill>
            <a:srgbClr val="F5F7FA">
              <a:alpha val="100000"/>
            </a:srgbClr>
          </a:solidFill>
          <a:ln cap="flat" cmpd="sng">
            <a:solidFill>
              <a:srgbClr val="C6D0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0" y="1905000"/>
            <a:ext cx="4572000" cy="406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5842000" y="1778000"/>
            <a:ext cx="5588000" cy="762000"/>
          </a:xfrm>
          <a:prstGeom prst="roundRect">
            <a:avLst>
              <a:gd name="adj" fmla="val 8333"/>
            </a:avLst>
          </a:prstGeom>
          <a:solidFill>
            <a:srgbClr val="005A9C">
              <a:alpha val="5000"/>
            </a:srgbClr>
          </a:solidFill>
          <a:ln cap="flat" cmpd="sng">
            <a:solidFill>
              <a:srgbClr val="004B83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2500" y="19304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604000" y="1879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小红书 (32%)</a:t>
            </a: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日均3800-4800条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0" y="2184400"/>
            <a:ext cx="469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素人日记、医生科普、项目种草、同城引流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42000" y="2667000"/>
            <a:ext cx="5588000" cy="762000"/>
          </a:xfrm>
          <a:prstGeom prst="roundRect">
            <a:avLst>
              <a:gd name="adj" fmla="val 8333"/>
            </a:avLst>
          </a:prstGeom>
          <a:solidFill>
            <a:srgbClr val="4A90E2">
              <a:alpha val="5000"/>
            </a:srgbClr>
          </a:solidFill>
          <a:ln cap="flat" cmpd="sng">
            <a:solidFill>
              <a:srgbClr val="2E75C9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2500" y="28194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604000" y="2768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抖音 (28%)</a:t>
            </a: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日均3300-4200条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3073400"/>
            <a:ext cx="469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效果对比、过程直播、医生IP打造、本地团购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842000" y="3556000"/>
            <a:ext cx="5588000" cy="762000"/>
          </a:xfrm>
          <a:prstGeom prst="roundRect">
            <a:avLst>
              <a:gd name="adj" fmla="val 8333"/>
            </a:avLst>
          </a:prstGeom>
          <a:solidFill>
            <a:srgbClr val="6CA6CD">
              <a:alpha val="5000"/>
            </a:srgbClr>
          </a:solidFill>
          <a:ln cap="flat" cmpd="sng">
            <a:solidFill>
              <a:srgbClr val="4D8AB3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2500" y="37084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604000" y="3657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CA6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百度 (15%)</a:t>
            </a: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日均1800-2200条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0" y="3962400"/>
            <a:ext cx="469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SEM竞价、SEO优化、品牌词与项目词搜索拦截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842000" y="4445000"/>
            <a:ext cx="5588000" cy="762000"/>
          </a:xfrm>
          <a:prstGeom prst="roundRect">
            <a:avLst>
              <a:gd name="adj" fmla="val 8333"/>
            </a:avLst>
          </a:prstGeom>
          <a:solidFill>
            <a:srgbClr val="9BC53D">
              <a:alpha val="5000"/>
            </a:srgbClr>
          </a:solidFill>
          <a:ln cap="flat" cmpd="sng">
            <a:solidFill>
              <a:srgbClr val="82AC24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32500" y="45974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604000" y="4546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BC5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视频号 (12%)</a:t>
            </a: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日均1400-1800条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4851400"/>
            <a:ext cx="469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专家问诊、到店券核销、私域流量沉淀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842000" y="5334000"/>
            <a:ext cx="5588000" cy="762000"/>
          </a:xfrm>
          <a:prstGeom prst="roundRect">
            <a:avLst>
              <a:gd name="adj" fmla="val 8333"/>
            </a:avLst>
          </a:prstGeom>
          <a:solidFill>
            <a:srgbClr val="C8C8C8">
              <a:alpha val="10000"/>
            </a:srgbClr>
          </a:solidFill>
          <a:ln cap="flat" cmpd="sng">
            <a:solidFill>
              <a:srgbClr val="AF9D9D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32500" y="54864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604000" y="54356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其他平台 (13%)</a:t>
            </a: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日均1500-2000条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04000" y="5740400"/>
            <a:ext cx="469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美团、新氧、知乎等作为补充渠道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效果对比：核心指标与平台优劣势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89000" y="1371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540000" y="13716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699000" y="1371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获客成本 (元/人)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0" y="1371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关键转化率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509000" y="13716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头部ROI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906000" y="13716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现状/趋势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1905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2095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2095500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小红书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540000" y="2095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种草+转化双强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2095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7AE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≈2900 (最低)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2095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留资转化率 22%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509000" y="2095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≥1:2.5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906000" y="20955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7AE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性价比最高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279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4A90E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2984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270000" y="2984500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抖音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540000" y="2984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曝光+直播转化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99000" y="2984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3500-4500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0" y="2984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直播核销率 8%-12%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509000" y="2984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1:1.5-1:2.2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906000" y="29845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跑量核心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3683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38735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270000" y="3873500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百度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2540000" y="3873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搜索拦截+品牌防御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699000" y="3873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74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4000-6000 (最高)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604000" y="3873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搜索转化率 8%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509000" y="3873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≥1:1.2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906000" y="38735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74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预算缩减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62000" y="4572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4A90E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9000" y="47625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1270000" y="4762500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视频号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2540000" y="4762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私域+复购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4699000" y="4762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3000-4000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604000" y="4762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私域转化率 15%-20%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509000" y="4762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7AE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≥1:3.0 (最高)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9906000" y="47625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利润核心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762000" y="5588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778500"/>
            <a:ext cx="304800" cy="304800"/>
          </a:xfrm>
          <a:prstGeom prst="rect">
            <a:avLst/>
          </a:prstGeom>
        </p:spPr>
      </p:pic>
      <p:sp>
        <p:nvSpPr>
          <p:cNvPr id="44" name="AutoShape 44"/>
          <p:cNvSpPr/>
          <p:nvPr/>
        </p:nvSpPr>
        <p:spPr>
          <a:xfrm>
            <a:off x="1397000" y="5778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全渠道平均：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获客成本 3800-4500元/人，ROI 1:1.2-1:1.8</a:t>
            </a:r>
            <a:endParaRPr lang="en-US" sz="1100"/>
          </a:p>
        </p:txBody>
      </p:sp>
      <p:cxnSp>
        <p:nvCxnSpPr>
          <p:cNvPr id="45" name="Connector 45"/>
          <p:cNvCxnSpPr/>
          <p:nvPr/>
        </p:nvCxnSpPr>
        <p:spPr>
          <a:xfrm rot="5314074">
            <a:off x="5842000" y="5962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6" name="Picture 4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0" y="5778500"/>
            <a:ext cx="304800" cy="304800"/>
          </a:xfrm>
          <a:prstGeom prst="rect">
            <a:avLst/>
          </a:prstGeom>
        </p:spPr>
      </p:pic>
      <p:sp>
        <p:nvSpPr>
          <p:cNvPr id="47" name="AutoShape 47"/>
          <p:cNvSpPr/>
          <p:nvPr/>
        </p:nvSpPr>
        <p:spPr>
          <a:xfrm>
            <a:off x="6731000" y="5778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预警标准：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获客成本 &gt;5000元 或 到店率 &lt;5%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核心策略与未来趋势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推荐投放预算配比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032000" cy="1905000"/>
          </a:xfrm>
          <a:prstGeom prst="roundRect">
            <a:avLst>
              <a:gd name="adj" fmla="val 6666"/>
            </a:avLst>
          </a:prstGeom>
          <a:solidFill>
            <a:srgbClr val="005A9C">
              <a:alpha val="5000"/>
            </a:srgbClr>
          </a:solidFill>
          <a:ln cap="flat" cmpd="sng">
            <a:solidFill>
              <a:srgbClr val="004B83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23495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小红书 40%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30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优先级1，必投。种草与转化核心，流量高地。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984500" y="1778000"/>
            <a:ext cx="2032000" cy="1905000"/>
          </a:xfrm>
          <a:prstGeom prst="roundRect">
            <a:avLst>
              <a:gd name="adj" fmla="val 6666"/>
            </a:avLst>
          </a:prstGeom>
          <a:solidFill>
            <a:srgbClr val="005A9C">
              <a:alpha val="5000"/>
            </a:srgbClr>
          </a:solidFill>
          <a:ln cap="flat" cmpd="sng">
            <a:solidFill>
              <a:srgbClr val="004B83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8500" y="1968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238500" y="23495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抖音 35%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238500" y="2730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优先级1，必投。负责跑量和业绩增长，公域获客。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207000" y="1778000"/>
            <a:ext cx="2032000" cy="1905000"/>
          </a:xfrm>
          <a:prstGeom prst="roundRect">
            <a:avLst>
              <a:gd name="adj" fmla="val 6666"/>
            </a:avLst>
          </a:prstGeom>
          <a:solidFill>
            <a:srgbClr val="4A90E2">
              <a:alpha val="5000"/>
            </a:srgbClr>
          </a:solidFill>
          <a:ln cap="flat" cmpd="sng">
            <a:solidFill>
              <a:srgbClr val="2E75C9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1000" y="1968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461000" y="23495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视频号 15%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461000" y="2730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优先级2。重点运营私域，提升客户复购率。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429500" y="1778000"/>
            <a:ext cx="2032000" cy="1905000"/>
          </a:xfrm>
          <a:prstGeom prst="roundRect">
            <a:avLst>
              <a:gd name="adj" fmla="val 6666"/>
            </a:avLst>
          </a:prstGeom>
          <a:solidFill>
            <a:srgbClr val="4A90E2">
              <a:alpha val="5000"/>
            </a:srgbClr>
          </a:solidFill>
          <a:ln cap="flat" cmpd="sng">
            <a:solidFill>
              <a:srgbClr val="2E75C9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83500" y="1968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683500" y="23495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百度 5%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83500" y="2730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优先级3。仅用于品牌词防守，控制成本不烧钱。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652000" y="1778000"/>
            <a:ext cx="1778000" cy="1905000"/>
          </a:xfrm>
          <a:prstGeom prst="roundRect">
            <a:avLst>
              <a:gd name="adj" fmla="val 7142"/>
            </a:avLst>
          </a:prstGeom>
          <a:solidFill>
            <a:srgbClr val="9B9B9B">
              <a:alpha val="5000"/>
            </a:srgbClr>
          </a:solidFill>
          <a:ln cap="flat" cmpd="sng">
            <a:solidFill>
              <a:srgbClr val="827575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6000" y="1968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906000" y="2349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 5%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906000" y="2730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辅助平台与口碑补充，灵活配置。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3937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核心趋势总结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4445000"/>
            <a:ext cx="2540000" cy="1778000"/>
          </a:xfrm>
          <a:prstGeom prst="roundRect">
            <a:avLst>
              <a:gd name="adj" fmla="val 714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4635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016000" y="5080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预算高度集中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16000" y="5397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小红书、抖音将占据总预算的60%以上，资源向高ROI平台倾斜。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467100" y="4445000"/>
            <a:ext cx="2540000" cy="1778000"/>
          </a:xfrm>
          <a:prstGeom prst="roundRect">
            <a:avLst>
              <a:gd name="adj" fmla="val 714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21100" y="4635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3721100" y="5080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内容合规与IP化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721100" y="5397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医生IP打造、合规内容生产及本地生活服务成为主流方向。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172200" y="4445000"/>
            <a:ext cx="2540000" cy="1778000"/>
          </a:xfrm>
          <a:prstGeom prst="roundRect">
            <a:avLst>
              <a:gd name="adj" fmla="val 714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26200" y="4635500"/>
            <a:ext cx="355600" cy="355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6426200" y="5080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搜索营销转型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426200" y="5397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百度竞价大幅缩减，转向SEO优化和AI搜索布局。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890000" y="4445000"/>
            <a:ext cx="2540000" cy="1778000"/>
          </a:xfrm>
          <a:prstGeom prst="roundRect">
            <a:avLst>
              <a:gd name="adj" fmla="val 714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144000" y="4635500"/>
            <a:ext cx="355600" cy="3556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9144000" y="5080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私域价值凸显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9144000" y="5397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以企业微信和视频号为核心，构建私域流量池，实现利润增长。</a:t>
            </a:r>
            <a:endParaRPr lang="en-US" sz="1100"/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3810000" cy="38100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0" y="3810000"/>
            <a:ext cx="5080000" cy="5080000"/>
          </a:xfrm>
          <a:prstGeom prst="ellipse">
            <a:avLst/>
          </a:prstGeom>
          <a:solidFill>
            <a:srgbClr val="005A9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524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254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sz="3600" b="1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代运营</a:t>
            </a:r>
            <a:r>
              <a:rPr lang="en-US" sz="3600" b="1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医美</a:t>
            </a:r>
            <a:r>
              <a:rPr lang="zh-CN" altLang="en-US" sz="3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定位与</a:t>
            </a:r>
            <a:r>
              <a:rPr lang="zh-CN" altLang="en-US" sz="3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</a:t>
            </a:r>
            <a:endParaRPr lang="zh-CN" altLang="en-US" sz="3600" b="1" i="0" u="none" strike="noStrike">
              <a:solidFill>
                <a:srgbClr val="005A9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74C3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方案核心定位与目标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4064000" cy="4318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8796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核心定位与战略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2277">
            <a:off x="1016011" y="2279650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540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5146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合规底线与IP驱动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以合规为底线，聚焦轻医美与抗衰赛道，打造门店与产品双重IP。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302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2766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全域闭环运营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构建“公域获客+私域转化+会员复购”全链路，实现品效合一。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064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0386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前瞻性合规布局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提前适配2026年各平台新规与监管要求，确保业务长期稳健发展。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080000" y="1651000"/>
            <a:ext cx="635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34000" y="1905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715000" y="18796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6个月阶段性目标规划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7473">
            <a:off x="5334007" y="2279650"/>
            <a:ext cx="584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5334000" y="2413000"/>
          <a:ext cx="5842000" cy="317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762000"/>
                <a:gridCol w="1905000"/>
                <a:gridCol w="2159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A2A5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阶段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C3F7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A2A5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C3F7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A2A5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核心KPI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C3F7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A2A5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关键成果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C3F7">
                        <a:alpha val="10000"/>
                      </a:srgbClr>
                    </a:solidFill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A2A5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基建期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第1-2月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线索成本≤600元</a:t>
                      </a:r>
                      <a:b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私域沉淀≥90%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搭建“三证一库”</a:t>
                      </a:r>
                      <a:b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店铺评分≥4.8</a:t>
                      </a:r>
                      <a:b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获客3000+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A2A5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增长期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第3-4月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到店成本≤1800元</a:t>
                      </a:r>
                      <a:b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首单转化≥28%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公域投放规模化</a:t>
                      </a:r>
                      <a:b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面诊核销≥60%</a:t>
                      </a:r>
                      <a:b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日增会员500+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A2A5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稳定期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第5-6月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复购率≥35%</a:t>
                      </a:r>
                      <a:b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ROI≥1:6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会员体系落地</a:t>
                      </a:r>
                      <a:b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医生IP破圈</a:t>
                      </a:r>
                      <a:b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2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服务流程标准化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品项体系与报价策略 - 品项分层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76200" cy="2222500"/>
          </a:xfrm>
          <a:prstGeom prst="roundRect">
            <a:avLst>
              <a:gd name="adj" fmla="val 166666"/>
            </a:avLst>
          </a:prstGeom>
          <a:solidFill>
            <a:srgbClr val="4FC3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00200" y="1803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引流款：获客入门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602">
            <a:off x="1092209" y="2279650"/>
            <a:ext cx="454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92200" y="23495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代表项目：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光子嫩肤、基础水光、皮肤检测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定价逻辑：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成本+微利 (99-399元)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核心作用：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沉淀私域，建立信任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76200" cy="2222500"/>
          </a:xfrm>
          <a:prstGeom prst="roundRect">
            <a:avLst>
              <a:gd name="adj" fmla="val 166666"/>
            </a:avLst>
          </a:prstGeom>
          <a:solidFill>
            <a:srgbClr val="0A2A5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3200" y="1841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61200" y="1803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利润款：核心营收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602">
            <a:off x="6553209" y="2279650"/>
            <a:ext cx="454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553200" y="23495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代表项目：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热玛吉、玻尿酸填充、肉毒素注射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定价逻辑：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价值定价 (1999-9999元)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核心作用：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提升毛利，保证盈利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127500"/>
            <a:ext cx="5207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4127500"/>
            <a:ext cx="76200" cy="2222500"/>
          </a:xfrm>
          <a:prstGeom prst="roundRect">
            <a:avLst>
              <a:gd name="adj" fmla="val 166666"/>
            </a:avLst>
          </a:prstGeom>
          <a:solidFill>
            <a:srgbClr val="4FC3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4318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00200" y="42799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高端款：品牌溢价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602">
            <a:off x="1092209" y="4756150"/>
            <a:ext cx="454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1092200" y="4826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代表项目：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全面部抗衰套餐、定制化手术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定价逻辑：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品牌溢价 (10000元+)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核心作用：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服务高净值客群，树立口碑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23000" y="4127500"/>
            <a:ext cx="5207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223000" y="4127500"/>
            <a:ext cx="76200" cy="2222500"/>
          </a:xfrm>
          <a:prstGeom prst="roundRect">
            <a:avLst>
              <a:gd name="adj" fmla="val 166666"/>
            </a:avLst>
          </a:prstGeom>
          <a:solidFill>
            <a:srgbClr val="0A2A5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3200" y="4318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061200" y="42799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保障款：体验复购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9602">
            <a:off x="6553209" y="4756150"/>
            <a:ext cx="454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553200" y="4826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代表项目：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术后修复、复诊服务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定价逻辑：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成本定价 (199-599元)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核心作用：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提升客户体验，促进二次消费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品项体系与报价策略 - 报价执行规则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0828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057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全平台统一定价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540000"/>
            <a:ext cx="4597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确保抖音、小红书、美团等主流平台价格一致；边缘平台可投放引流款以激增流量，杜绝价格欺诈风险。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800" y="20828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035800" y="2057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套餐化设计策略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27800" y="2540000"/>
            <a:ext cx="4597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推行组合套餐（如“光子嫩肤3次卡+皮肤检测2次”），通过捆绑销售有效提升客单价与用户复购率。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064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4368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74800" y="4343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隐藏优惠合规化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66800" y="4826000"/>
            <a:ext cx="4597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隐形折扣仅通过企业微信向老客发放专属券，公域渠道严格禁止展示任何隐形优惠，确保合规运营。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4064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7800" y="43688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035800" y="4343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正品溯源与合规标注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27800" y="4826000"/>
            <a:ext cx="4597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所有产品必须清晰标注批文编号及授权信息，报价页需明确提示“效果因人而异”，保障消费者知情权。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全平台运营与广告植入策略 - 核心平台矩阵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A2A5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30400"/>
            <a:ext cx="2286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第一梯队：内容平台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4FC3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占比 56%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626">
            <a:off x="1016014" y="2851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048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33500" y="30226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抖音 (25%)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信息流、搜索竞价、直播科普。定向25-45岁女性，本地5km。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810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37846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小红书 (20%)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聚光信息流、医生KOS笔记。拦截“正规医美”等关键词。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5720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33500" y="45466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视频号 (5%)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依托微信生态，发布科普短视频，引导添加企业微信。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445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FC3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1968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207000" y="1930400"/>
            <a:ext cx="2286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第二梯队：本地生活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99000" y="24130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4FC3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占比 24%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626">
            <a:off x="4699014" y="2851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9000" y="30480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016500" y="30226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美团/大众点评 (20%)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投放铂金展位、关键词竞价及团购套餐推广。重点优化店铺评分至4.8分以上，提升到店转化率。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128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A2A5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82000" y="1968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890000" y="1930400"/>
            <a:ext cx="2286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第三梯队：私域与补充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82000" y="24130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4FC3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占比 20%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5626">
            <a:off x="8382014" y="2851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9" name="Picture 2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82000" y="3048000"/>
            <a:ext cx="254000" cy="254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699500" y="30226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企业微信 (10%)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搭建客户标签系统，进行精细化分层运营，挖掘长期价值。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82000" y="381000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8699500" y="37846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GEO优化 (5%)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布局本地关键词，提升AI搜索首屏占位率，抢占流量入口。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全平台运营与广告植入策略 - 广告植入合规红线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FF525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00200" y="2006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严禁达人合作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92200" y="2413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任何非医疗资质的KOL/素人不得推荐医美项目，避免因资质不符引发的法律风险。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FF525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3200" y="203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61200" y="2006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禁用效果对比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53200" y="2413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严禁使用前后对比图。即使标注免责声明也属违法，违规将面临最低50万元罚款。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4064000"/>
            <a:ext cx="76200" cy="2032000"/>
          </a:xfrm>
          <a:prstGeom prst="roundRect">
            <a:avLst>
              <a:gd name="adj" fmla="val 0"/>
            </a:avLst>
          </a:prstGeom>
          <a:solidFill>
            <a:srgbClr val="FF525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4318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00200" y="4292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不夸大宣传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92200" y="4699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禁用“永久、治愈、百分百有效”等绝对化用语。违规内容将被平台自动折叠处理。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064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23000" y="4064000"/>
            <a:ext cx="76200" cy="2032000"/>
          </a:xfrm>
          <a:prstGeom prst="roundRect">
            <a:avLst>
              <a:gd name="adj" fmla="val 0"/>
            </a:avLst>
          </a:prstGeom>
          <a:solidFill>
            <a:srgbClr val="FF525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3200" y="4318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061200" y="4292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医生资质公示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53200" y="4699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所有出镜医生必须清晰展示执业证书编号及职称信息，确保信息真实透明。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预算分配方案 - 预算总览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月度预算分布 (总额: 200万元)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2413000"/>
            <a:ext cx="4572000" cy="3302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096000" y="1651000"/>
            <a:ext cx="5334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dist="25400" dir="2700000" algn="tl" rotWithShape="0">
              <a:srgbClr val="0A2A54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6500" y="1841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921500" y="1778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精准引流 (40%) - 24万元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921500" y="2095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E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用于抖音/小红书广告投放、美团竞价排名及GEO优化。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096000" y="2730500"/>
            <a:ext cx="5334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dist="25400" dir="2700000" algn="tl" rotWithShape="0">
              <a:srgbClr val="0A2A54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500" y="2921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21500" y="2857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内容共建 (30%) - 18万元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21500" y="317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E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品牌IP打造、合规内容制作及高质量视频拍摄。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0" y="3810000"/>
            <a:ext cx="5334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dist="25400" dir="2700000" algn="tl" rotWithShape="0">
              <a:srgbClr val="0A2A54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6500" y="40005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21500" y="3937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私域运营 (20%) - 12万元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921500" y="4254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E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企业微信SCRM系统维护、社群精细化运营及老客福利。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096000" y="4889500"/>
            <a:ext cx="5334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dist="25400" dir="2700000" algn="tl" rotWithShape="0">
              <a:srgbClr val="0A2A54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6500" y="50800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21500" y="5016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应急与合规 (10%) - 6万元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921500" y="5334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E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法务审核、资质认证更新及突发风险应对资金池。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预算分配方案 - 月度拆分与成本控制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752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月度预算拆分 (动态调整)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2286000"/>
          <a:ext cx="4699000" cy="317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2667000"/>
                <a:gridCol w="1016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A2A5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月份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C3F7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A2A5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核心投入方向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C3F7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A2A5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金额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C3F7">
                        <a:alpha val="15000"/>
                      </a:srgbClr>
                    </a:solidFill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第1-2月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基建期：资质搭建、品牌IP起号、本地店铺优化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A2A5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8万+8万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第3-4月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增长期：加大信息流投放、直播科普、团购推广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A2A5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10万+10万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第5-6月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稳定期：私域复购、会员体系、医生IP破圈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A2A5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12万+12万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858000" y="1752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成本控制要点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286000"/>
            <a:ext cx="4699000" cy="1079500"/>
          </a:xfrm>
          <a:prstGeom prst="roundRect">
            <a:avLst>
              <a:gd name="adj" fmla="val 11764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2476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2438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弹性预算机制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12000" y="27686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预留40%弹性预算，根据渠道ROI动态调整，确保每一分钱花在刀刃上。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3492500"/>
            <a:ext cx="4699000" cy="1079500"/>
          </a:xfrm>
          <a:prstGeom prst="roundRect">
            <a:avLst>
              <a:gd name="adj" fmla="val 11764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3683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36449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共享IP降本增效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112000" y="39751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利用医生本人出镜，建立专业信任背书，预计线索获取成本可降低40%。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699000"/>
            <a:ext cx="4699000" cy="1079500"/>
          </a:xfrm>
          <a:prstGeom prst="roundRect">
            <a:avLst>
              <a:gd name="adj" fmla="val 11764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4889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12000" y="4851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数据驱动精细化运营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0" y="51816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监控“线索成本-到店成本-ROI”三级指标，每周复盘优化投放计划。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风险分析与应对措施 - 核心风险清单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609600" cy="609600"/>
          </a:xfrm>
          <a:prstGeom prst="ellipse">
            <a:avLst/>
          </a:prstGeom>
          <a:solidFill>
            <a:srgbClr val="4FC3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7600" y="2006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930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合规风险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5082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03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风险点：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平台新规违规、价格欺诈、资质不全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04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应对措施：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建立“内容双审制”；全平台价格统一；公示“三证一库”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4925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责任部门：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合规部 + 运营部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1905000"/>
            <a:ext cx="609600" cy="609600"/>
          </a:xfrm>
          <a:prstGeom prst="ellipse">
            <a:avLst/>
          </a:prstGeom>
          <a:solidFill>
            <a:srgbClr val="4FC3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8600" y="20066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239000" y="1930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运营风险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25082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77000" y="2603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风险点：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线索质量低、到店率差、私域流失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304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应对措施：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投放定向精细化；预约后1小时内电话确认；新客到院送修复礼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34925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责任部门：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运营部 + 咨询部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4445000"/>
            <a:ext cx="609600" cy="609600"/>
          </a:xfrm>
          <a:prstGeom prst="ellipse">
            <a:avLst/>
          </a:prstGeom>
          <a:solidFill>
            <a:srgbClr val="4FC3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7600" y="45466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778000" y="4470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市场风险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9291">
            <a:off x="1016009" y="50482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1016000" y="5143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风险点：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竞争加剧、获客成本上升、用户信任度低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16000" y="558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应对措施：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强化医生IP专业性；推出“老客推荐返现”；每月更新合规内容库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016000" y="60325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责任部门：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市场部 + 医生团队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223000" y="419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477000" y="4445000"/>
            <a:ext cx="609600" cy="609600"/>
          </a:xfrm>
          <a:prstGeom prst="ellipse">
            <a:avLst/>
          </a:prstGeom>
          <a:solidFill>
            <a:srgbClr val="4FC3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8600" y="45466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239000" y="4470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数据风险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9291">
            <a:off x="6477009" y="50482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6477000" y="5143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风险点：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个人信息泄露、私域营销违规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477000" y="558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应对措施：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遵守《个人信息保护法》；晚间不发送营销信息；定期数据安全审计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477000" y="60325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责任部门：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技术部 + 合规部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风险分析与应对措施 - 风险预警机制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4FC3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21590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292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日常监测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626">
            <a:off x="1016014" y="335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556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每日检查平台内容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每周核对广告合规性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每月提交合规报告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4FC3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2159000"/>
            <a:ext cx="635000" cy="635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99000" y="292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应急响应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5626">
            <a:off x="4699014" y="335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99000" y="3556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发现违规内容，2小时内下架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收到投诉，24小时内响应并解决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4FC3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2159000"/>
            <a:ext cx="635000" cy="635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382000" y="292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保险兜底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5626">
            <a:off x="8382014" y="335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382000" y="3556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购买医美机构责任险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覆盖医疗纠纷、广告合规风险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执行与考核机制 - 组织架构分工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项目负责人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5626">
            <a:off x="1016014" y="2533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667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统筹全方案执行，协调各部门资源，确保项目进度与质量。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医生团队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5626">
            <a:off x="4699014" y="2533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699000" y="2667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负责科普内容产出、面诊服务及术后随访，提供专业医疗支持。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032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运营部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626">
            <a:off x="8382014" y="2533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382000" y="2667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负责平台投放策略、内容发布及私域运营，提升品牌曝光度。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064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524000" y="431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咨询部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626">
            <a:off x="1016014" y="4819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1016000" y="4953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负责线索转化、到店接待及客单价提升，优化客户体验。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445000" y="4064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4318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207000" y="431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合规部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5626">
            <a:off x="4699014" y="4819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4699000" y="4953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负责资质审核、内容合规及风险防控，保障运营安全。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执行与考核机制 - 考核指标 (KPI)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032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0320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运营层 KPI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496">
            <a:off x="1066809" y="24828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66800" y="26162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线索成本与到店成本控制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私域用户沉淀率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整体投入产出比 (ROI)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8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35800" y="20320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咨询层 KPI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496">
            <a:off x="6527809" y="24828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527800" y="26162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首单转化率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平均客单价 (AOV)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面诊核销率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444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74800" y="44450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医生层 KPI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496">
            <a:off x="1066809" y="48958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66800" y="50292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科普内容播放量与互动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面诊接待量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患者满意度评分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7800" y="4445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35800" y="44450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合规层 KPI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496">
            <a:off x="6527809" y="48958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527800" y="50292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零违规记录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零有效投诉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资质更新及时率 100%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执行与考核机制 - 优化迭代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FC3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159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3000" y="2857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周例会复盘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7188">
            <a:off x="1143016" y="3295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143000" y="3429000"/>
            <a:ext cx="254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55555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复盘投放数据与内容效果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555555"/>
              </a:buClr>
              <a:buChar char="•"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检查合规情况，规避风险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555555"/>
              </a:buClr>
              <a:buChar char="•"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动态调整下周执行计划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FC3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2159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826000" y="2857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月度深度复盘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7188">
            <a:off x="4826016" y="3295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826000" y="3429000"/>
            <a:ext cx="254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55555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对比KPI完成情况，分析差距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555555"/>
              </a:buClr>
              <a:buChar char="•"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优化品项结构与报价策略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555555"/>
              </a:buClr>
              <a:buChar char="•"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迭代投放策略，提升ROI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FC3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9000" y="21590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509000" y="2857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季度战略调整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7188">
            <a:off x="8509016" y="32956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509000" y="3429000"/>
            <a:ext cx="254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55555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研判市场宏观变化趋势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555555"/>
              </a:buClr>
              <a:buChar char="•"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应对平台新规与政策调整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555555"/>
              </a:buClr>
              <a:buChar char="•"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调整整体运营方向与目标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方案落地时间表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2032000" cy="4318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032000" cy="76200"/>
          </a:xfrm>
          <a:prstGeom prst="roundRect">
            <a:avLst>
              <a:gd name="adj" fmla="val 166666"/>
            </a:avLst>
          </a:prstGeom>
          <a:solidFill>
            <a:srgbClr val="4FC3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349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第1周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8647">
            <a:off x="1016026" y="2787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2921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合规底册搭建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医生IP账号注册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89000" y="4064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关键交付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三证一库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医生蓝V账号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997200" y="1651000"/>
            <a:ext cx="2032000" cy="4318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997200" y="1651000"/>
            <a:ext cx="2032000" cy="76200"/>
          </a:xfrm>
          <a:prstGeom prst="roundRect">
            <a:avLst>
              <a:gd name="adj" fmla="val 166666"/>
            </a:avLst>
          </a:prstGeom>
          <a:solidFill>
            <a:srgbClr val="4FC3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1200" y="1905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124200" y="2349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第2-4周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28647">
            <a:off x="3251226" y="2787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124200" y="2921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内容库建设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本地店铺优化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124200" y="4064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关键交付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100+合规内容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店铺评分4.8+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232400" y="1651000"/>
            <a:ext cx="2032000" cy="4318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232400" y="1651000"/>
            <a:ext cx="2032000" cy="76200"/>
          </a:xfrm>
          <a:prstGeom prst="roundRect">
            <a:avLst>
              <a:gd name="adj" fmla="val 166666"/>
            </a:avLst>
          </a:prstGeom>
          <a:solidFill>
            <a:srgbClr val="4FC3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0" y="1905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359400" y="2349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第2月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28647">
            <a:off x="5486426" y="2787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5359400" y="2921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医生IP起号/直播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广告投放启动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5359400" y="4064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关键交付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粉丝≥1万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线索≥500条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467600" y="1651000"/>
            <a:ext cx="2032000" cy="4318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467600" y="1651000"/>
            <a:ext cx="2032000" cy="76200"/>
          </a:xfrm>
          <a:prstGeom prst="roundRect">
            <a:avLst>
              <a:gd name="adj" fmla="val 166666"/>
            </a:avLst>
          </a:prstGeom>
          <a:solidFill>
            <a:srgbClr val="4FC3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1600" y="19050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594600" y="2349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第3-4月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28647">
            <a:off x="7721626" y="2787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7594600" y="2921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投放规模化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私域分层运营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7594600" y="4064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关键交付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到店≥800人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会员≥500人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9702800" y="1651000"/>
            <a:ext cx="2032000" cy="4318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702800" y="1651000"/>
            <a:ext cx="2032000" cy="76200"/>
          </a:xfrm>
          <a:prstGeom prst="roundRect">
            <a:avLst>
              <a:gd name="adj" fmla="val 166666"/>
            </a:avLst>
          </a:prstGeom>
          <a:solidFill>
            <a:srgbClr val="4FC3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56800" y="1905000"/>
            <a:ext cx="406400" cy="4064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9829800" y="2349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第5-6月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-28647">
            <a:off x="9956826" y="2787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9829800" y="2921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共享IP破圈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老客复购活动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9829800" y="4064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关键交付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粉丝≥5万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复购率≥35%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A2A54"/>
                </a:solidFill>
                <a:latin typeface="Poppins"/>
                <a:ea typeface="Poppins"/>
                <a:cs typeface="Poppins"/>
                <a:sym typeface="Poppins"/>
              </a:rPr>
              <a:t>方案核心亮点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609600" cy="609600"/>
          </a:xfrm>
          <a:prstGeom prst="ellipse">
            <a:avLst/>
          </a:prstGeom>
          <a:solidFill>
            <a:srgbClr val="4FC3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7600" y="2133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032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合规先行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4765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完全适配2026年平台新规与监管要求，规避罚款风险，确保业务稳健运行。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2032000"/>
            <a:ext cx="609600" cy="609600"/>
          </a:xfrm>
          <a:prstGeom prst="ellipse">
            <a:avLst/>
          </a:prstGeom>
          <a:solidFill>
            <a:srgbClr val="4FC3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8600" y="21336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2032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共享医生IP驱动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39000" y="24765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以品牌店铺专业性建立信任，有效降低获客成本，显著提升用户转化率。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4318000"/>
            <a:ext cx="609600" cy="609600"/>
          </a:xfrm>
          <a:prstGeom prst="ellipse">
            <a:avLst/>
          </a:prstGeom>
          <a:solidFill>
            <a:srgbClr val="4FC3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7600" y="44196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778000" y="4318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品效合一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778000" y="47625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公域获客、私域转化、会员复购形成闭环，兼顾短期营收增长与长期品牌发展。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064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A2A54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4318000"/>
            <a:ext cx="609600" cy="609600"/>
          </a:xfrm>
          <a:prstGeom prst="ellipse">
            <a:avLst/>
          </a:prstGeom>
          <a:solidFill>
            <a:srgbClr val="4FC3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8600" y="44196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239000" y="4318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数据驱动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239000" y="47625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基于实时数据动态调整预算与策略，确保每一分钱都投入高回报环节，最大化ROI。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826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C3F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000" y="2159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2159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方案总结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0742">
            <a:off x="1397010" y="26606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397000" y="2921000"/>
            <a:ext cx="406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本方案以合规为基石，以品牌IP为引擎，构建了一套完整的线上运营体系，旨在实现医美机构的可持续增长。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1778000"/>
            <a:ext cx="4826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C3F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215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2159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0742">
            <a:off x="6731010" y="26606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731000" y="2921000"/>
            <a:ext cx="406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我们相信，通过本方案的实施，能够有效提升品牌影响力，降低获客成本，最终实现品效合一的商业目标，在激烈的市场竞争中脱颖而出。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6000" y="2413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A2A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42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4FC3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2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3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4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5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6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7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8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9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10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11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12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13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14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15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16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17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18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4309</Words>
  <Application>WPS 演示</Application>
  <PresentationFormat/>
  <Paragraphs>583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宋体</vt:lpstr>
      <vt:lpstr>Wingdings</vt:lpstr>
      <vt:lpstr>Arial</vt:lpstr>
      <vt:lpstr>Noto Sans SC</vt:lpstr>
      <vt:lpstr>Poppins</vt:lpstr>
      <vt:lpstr>AMGDT</vt:lpstr>
      <vt:lpstr>微软雅黑</vt:lpstr>
      <vt:lpstr>Arial Unicode MS</vt:lpstr>
      <vt:lpstr>Poppins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小软</cp:lastModifiedBy>
  <cp:revision>1</cp:revision>
  <dcterms:created xsi:type="dcterms:W3CDTF">2026-03-09T07:24:56Z</dcterms:created>
  <dcterms:modified xsi:type="dcterms:W3CDTF">2026-03-09T07:24:56Z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52D52D7D5EE74B8DA9B846233C2B89D7_13</vt:lpwstr>
  </property>
</Properties>
</file>